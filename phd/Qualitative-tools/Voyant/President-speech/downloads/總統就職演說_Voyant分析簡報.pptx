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ac93d8305420f" /><Relationship Type="http://schemas.openxmlformats.org/officeDocument/2006/relationships/extended-properties" Target="/docProps/app.xml" Id="R0345772928c44a76" /><Relationship Type="http://schemas.openxmlformats.org/officeDocument/2006/relationships/officeDocument" Target="/ppt/presentation.xml" Id="R8cc831dfe22940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1697d9456a4769"/>
  </p:sldMasterIdLst>
  <p:notesMasterIdLst>
    <p:notesMasterId xmlns:r="http://schemas.openxmlformats.org/officeDocument/2006/relationships" r:id="Ra17a35d716ee42b6"/>
  </p:notesMasterIdLst>
  <p:sldIdLst>
    <p:sldId xmlns:r="http://schemas.openxmlformats.org/officeDocument/2006/relationships" id="256" r:id="Raf3f8753f8ce404a"/>
    <p:sldId xmlns:r="http://schemas.openxmlformats.org/officeDocument/2006/relationships" id="257" r:id="R5574f20f1bef4ff3"/>
    <p:sldId xmlns:r="http://schemas.openxmlformats.org/officeDocument/2006/relationships" id="258" r:id="R5ada4c5eb51a4fbe"/>
    <p:sldId xmlns:r="http://schemas.openxmlformats.org/officeDocument/2006/relationships" id="259" r:id="Re692d745c267464a"/>
    <p:sldId xmlns:r="http://schemas.openxmlformats.org/officeDocument/2006/relationships" id="260" r:id="R8e3420451758478f"/>
    <p:sldId xmlns:r="http://schemas.openxmlformats.org/officeDocument/2006/relationships" id="261" r:id="R381fef5fb6ca44fa"/>
    <p:sldId xmlns:r="http://schemas.openxmlformats.org/officeDocument/2006/relationships" id="262" r:id="R92f7e24518984a39"/>
    <p:sldId xmlns:r="http://schemas.openxmlformats.org/officeDocument/2006/relationships" id="263" r:id="Ra1c78919f82d4711"/>
    <p:sldId xmlns:r="http://schemas.openxmlformats.org/officeDocument/2006/relationships" id="264" r:id="R0f351c064f3d445c"/>
    <p:sldId xmlns:r="http://schemas.openxmlformats.org/officeDocument/2006/relationships" id="265" r:id="R497ba1461f244530"/>
    <p:sldId xmlns:r="http://schemas.openxmlformats.org/officeDocument/2006/relationships" id="266" r:id="R8af55539bd4542dc"/>
    <p:sldId xmlns:r="http://schemas.openxmlformats.org/officeDocument/2006/relationships" id="267" r:id="Rf02d0616d250427a"/>
    <p:sldId xmlns:r="http://schemas.openxmlformats.org/officeDocument/2006/relationships" id="268" r:id="Rfad3c2371399409e"/>
    <p:sldId xmlns:r="http://schemas.openxmlformats.org/officeDocument/2006/relationships" id="269" r:id="R2dd9b54b9b8e460a"/>
    <p:sldId xmlns:r="http://schemas.openxmlformats.org/officeDocument/2006/relationships" id="270" r:id="Rac96e621976741e0"/>
    <p:sldId xmlns:r="http://schemas.openxmlformats.org/officeDocument/2006/relationships" id="271" r:id="R5cc7dee18cfd42a7"/>
    <p:sldId xmlns:r="http://schemas.openxmlformats.org/officeDocument/2006/relationships" id="272" r:id="Rb7aed27d14e649d2"/>
    <p:sldId xmlns:r="http://schemas.openxmlformats.org/officeDocument/2006/relationships" id="273" r:id="R0df605415c3f413d"/>
    <p:sldId xmlns:r="http://schemas.openxmlformats.org/officeDocument/2006/relationships" id="274" r:id="R3600559887fc4ed0"/>
    <p:sldId xmlns:r="http://schemas.openxmlformats.org/officeDocument/2006/relationships" id="275" r:id="Rb71999c8a3d54c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ec5d4d87b24f54" /><Relationship Type="http://schemas.openxmlformats.org/officeDocument/2006/relationships/slideMaster" Target="/ppt/slideMasters/slideMaster1.xml" Id="Ra91697d9456a4769" /><Relationship Type="http://schemas.openxmlformats.org/officeDocument/2006/relationships/notesMaster" Target="/ppt/notesMasters/notesMaster1.xml" Id="Ra17a35d716ee42b6" /><Relationship Type="http://schemas.openxmlformats.org/officeDocument/2006/relationships/presProps" Target="/ppt/presProps.xml" Id="R47785b6ad45741fb" /><Relationship Type="http://schemas.openxmlformats.org/officeDocument/2006/relationships/tableStyles" Target="/ppt/tableStyles.xml" Id="Rce2dfddf1c394aef" /><Relationship Type="http://schemas.openxmlformats.org/officeDocument/2006/relationships/slide" Target="/ppt/slides/slide1.xml" Id="Raf3f8753f8ce404a" /><Relationship Type="http://schemas.openxmlformats.org/officeDocument/2006/relationships/slide" Target="/ppt/slides/slide2.xml" Id="R5574f20f1bef4ff3" /><Relationship Type="http://schemas.openxmlformats.org/officeDocument/2006/relationships/slide" Target="/ppt/slides/slide3.xml" Id="R5ada4c5eb51a4fbe" /><Relationship Type="http://schemas.openxmlformats.org/officeDocument/2006/relationships/slide" Target="/ppt/slides/slide4.xml" Id="Re692d745c267464a" /><Relationship Type="http://schemas.openxmlformats.org/officeDocument/2006/relationships/slide" Target="/ppt/slides/slide5.xml" Id="R8e3420451758478f" /><Relationship Type="http://schemas.openxmlformats.org/officeDocument/2006/relationships/slide" Target="/ppt/slides/slide6.xml" Id="R381fef5fb6ca44fa" /><Relationship Type="http://schemas.openxmlformats.org/officeDocument/2006/relationships/slide" Target="/ppt/slides/slide7.xml" Id="R92f7e24518984a39" /><Relationship Type="http://schemas.openxmlformats.org/officeDocument/2006/relationships/slide" Target="/ppt/slides/slide8.xml" Id="Ra1c78919f82d4711" /><Relationship Type="http://schemas.openxmlformats.org/officeDocument/2006/relationships/slide" Target="/ppt/slides/slide9.xml" Id="R0f351c064f3d445c" /><Relationship Type="http://schemas.openxmlformats.org/officeDocument/2006/relationships/slide" Target="/ppt/slides/slide10.xml" Id="R497ba1461f244530" /><Relationship Type="http://schemas.openxmlformats.org/officeDocument/2006/relationships/slide" Target="/ppt/slides/slide11.xml" Id="R8af55539bd4542dc" /><Relationship Type="http://schemas.openxmlformats.org/officeDocument/2006/relationships/slide" Target="/ppt/slides/slide12.xml" Id="Rf02d0616d250427a" /><Relationship Type="http://schemas.openxmlformats.org/officeDocument/2006/relationships/slide" Target="/ppt/slides/slide13.xml" Id="Rfad3c2371399409e" /><Relationship Type="http://schemas.openxmlformats.org/officeDocument/2006/relationships/slide" Target="/ppt/slides/slide14.xml" Id="R2dd9b54b9b8e460a" /><Relationship Type="http://schemas.openxmlformats.org/officeDocument/2006/relationships/slide" Target="/ppt/slides/slide15.xml" Id="Rac96e621976741e0" /><Relationship Type="http://schemas.openxmlformats.org/officeDocument/2006/relationships/slide" Target="/ppt/slides/slide16.xml" Id="R5cc7dee18cfd42a7" /><Relationship Type="http://schemas.openxmlformats.org/officeDocument/2006/relationships/slide" Target="/ppt/slides/slide17.xml" Id="Rb7aed27d14e649d2" /><Relationship Type="http://schemas.openxmlformats.org/officeDocument/2006/relationships/slide" Target="/ppt/slides/slide18.xml" Id="R0df605415c3f413d" /><Relationship Type="http://schemas.openxmlformats.org/officeDocument/2006/relationships/slide" Target="/ppt/slides/slide19.xml" Id="R3600559887fc4ed0" /><Relationship Type="http://schemas.openxmlformats.org/officeDocument/2006/relationships/slide" Target="/ppt/slides/slide20.xml" Id="Rb71999c8a3d5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9f83b542b548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39c6fceaca491d" /><Relationship Type="http://schemas.openxmlformats.org/officeDocument/2006/relationships/notesMaster" Target="/ppt/notesMasters/notesMaster1.xml" Id="R661e22b1abac48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540252e5a94cac" /><Relationship Type="http://schemas.openxmlformats.org/officeDocument/2006/relationships/notesMaster" Target="/ppt/notesMasters/notesMaster1.xml" Id="R48b63c3a62ee4b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c6c88813a44134" /><Relationship Type="http://schemas.openxmlformats.org/officeDocument/2006/relationships/notesMaster" Target="/ppt/notesMasters/notesMaster1.xml" Id="R97548e5ccca643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01585b1ca04354" /><Relationship Type="http://schemas.openxmlformats.org/officeDocument/2006/relationships/notesMaster" Target="/ppt/notesMasters/notesMaster1.xml" Id="R383f794f24074f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070c14926b4a8a" /><Relationship Type="http://schemas.openxmlformats.org/officeDocument/2006/relationships/notesMaster" Target="/ppt/notesMasters/notesMaster1.xml" Id="R14612a523eb94a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94e84130d604c81" /><Relationship Type="http://schemas.openxmlformats.org/officeDocument/2006/relationships/notesMaster" Target="/ppt/notesMasters/notesMaster1.xml" Id="R6e6407d2bb2745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51098bcb73457f" /><Relationship Type="http://schemas.openxmlformats.org/officeDocument/2006/relationships/notesMaster" Target="/ppt/notesMasters/notesMaster1.xml" Id="R26c80cc6daa3470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3abd36972642bd" /><Relationship Type="http://schemas.openxmlformats.org/officeDocument/2006/relationships/notesMaster" Target="/ppt/notesMasters/notesMaster1.xml" Id="Rb78cff1019064e7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b5e376f1124f1c" /><Relationship Type="http://schemas.openxmlformats.org/officeDocument/2006/relationships/notesMaster" Target="/ppt/notesMasters/notesMaster1.xml" Id="R8b583ab9fd324c7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1dd06b6932149bc" /><Relationship Type="http://schemas.openxmlformats.org/officeDocument/2006/relationships/notesMaster" Target="/ppt/notesMasters/notesMaster1.xml" Id="R3890f67bec7a4b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c9e770bc8c46e9" /><Relationship Type="http://schemas.openxmlformats.org/officeDocument/2006/relationships/notesMaster" Target="/ppt/notesMasters/notesMaster1.xml" Id="R5c980f6ba6c0473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d56ed8b18f46ee" /><Relationship Type="http://schemas.openxmlformats.org/officeDocument/2006/relationships/notesMaster" Target="/ppt/notesMasters/notesMaster1.xml" Id="Rc504f394bd0f4b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7391eba1bf4416" /><Relationship Type="http://schemas.openxmlformats.org/officeDocument/2006/relationships/notesMaster" Target="/ppt/notesMasters/notesMaster1.xml" Id="R35551741066f404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e8711b590c4e46" /><Relationship Type="http://schemas.openxmlformats.org/officeDocument/2006/relationships/notesMaster" Target="/ppt/notesMasters/notesMaster1.xml" Id="R150e108a4bbb41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44f54c3dc93406f" /><Relationship Type="http://schemas.openxmlformats.org/officeDocument/2006/relationships/notesMaster" Target="/ppt/notesMasters/notesMaster1.xml" Id="R08f5394527d143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25946543b14ccc" /><Relationship Type="http://schemas.openxmlformats.org/officeDocument/2006/relationships/notesMaster" Target="/ppt/notesMasters/notesMaster1.xml" Id="Rf1be714d68d44a5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35c626aa0d48e8" /><Relationship Type="http://schemas.openxmlformats.org/officeDocument/2006/relationships/notesMaster" Target="/ppt/notesMasters/notesMaster1.xml" Id="Rbf2c8b36fe104f5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9986e3e2e024efd" /><Relationship Type="http://schemas.openxmlformats.org/officeDocument/2006/relationships/notesMaster" Target="/ppt/notesMasters/notesMaster1.xml" Id="R74478bd06bcd40d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91278d9178489c" /><Relationship Type="http://schemas.openxmlformats.org/officeDocument/2006/relationships/notesMaster" Target="/ppt/notesMasters/notesMaster1.xml" Id="R208720de4ff84a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9f219bf786145ad" /><Relationship Type="http://schemas.openxmlformats.org/officeDocument/2006/relationships/notesMaster" Target="/ppt/notesMasters/notesMaster1.xml" Id="R5b3819cab64f40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5b032e9f3a44785de3843615d80c96f7；Excel：總統就職演說_中國兩岸與經濟語境分析.xlsx。文字雲為簡報中依 Corpus Terms 原始次數重建。相關性頁已刪除，因主要相關係數接近0且樣本僅8篇。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5b032e9f3a44785de3843615d80c96f7；Excel：總統就職演說_中國兩岸與經濟語境分析.xlsx。Voyant Search 官方語法以雙引號表示精確片語；Creating a Corpus 說明 Automatic、Simple Word Boundaries、Whitespace Only 三種斷詞。實測 API：中_國784、兩_岸241、經_濟_安_全360，均不是本研究所需的精確詞頻。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5b032e9f3a44785de3843615d80c96f7；Excel：總統就職演說_中國兩岸與經濟語境分析.xlsx。詞頻：兩岸97、中國36、對岸7、北京3；沒有零次詞。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5b032e9f3a44785de3843615d80c96f7；Excel：總統就職演說_中國兩岸與經濟語境分析.xlsx。本頁截圖取自原始 Excel 工作表，右側結論由表內數值或編碼欄位直接整理。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5b032e9f3a44785de3843615d80c96f7；Excel：總統就職演說_中國兩岸與經濟語境分析.xlsx。本頁截圖取自原始 Excel 工作表，右側結論由表內數值或編碼欄位直接整理。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5b032e9f3a44785de3843615d80c96f7；Excel：總統就職演說_中國兩岸與經濟語境分析.xlsx。代表句依 Excel 逐句編碼表，簡報採節錄並保留紀錄ID。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5b032e9f3a44785de3843615d80c96f7；Excel：總統就職演說_中國兩岸與經濟語境分析.xlsx。台灣200與臺灣183合併為383；其餘：國家171、人民157、政府123、經濟108、產業79、成長23、就業4。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5b032e9f3a44785de3843615d80c96f7；Excel：總統就職演說_中國兩岸與經濟語境分析.xlsx。本頁截圖取自原始 Excel 工作表，右側結論由表內數值或編碼欄位直接整理。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5b032e9f3a44785de3843615d80c96f7；Excel：總統就職演說_中國兩岸與經濟語境分析.xlsx。本頁截圖取自原始 Excel 工作表，右側結論由表內數值或編碼欄位直接整理。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5b032e9f3a44785de3843615d80c96f7；Excel：總統就職演說_中國兩岸與經濟語境分析.xlsx。代表句依 Excel 逐句編碼表，簡報採節錄並保留紀錄ID。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資料來源：本機 Voyant Tools corpus 5b032e9f3a44785de3843615d80c96f7；Excel：總統就職演說_中國兩岸與經濟語境分析.xlsx。限制：八篇演說；台灣／臺灣已合併；相關性與搭配詞不代表因果，態度須以原句確認。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1ef43a0364d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2645e3198d4aef" /><Relationship Type="http://schemas.openxmlformats.org/officeDocument/2006/relationships/slideLayout" Target="/ppt/slideLayouts/slideLayout1.xml" Id="Raa4a97fc6ea241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4a97fc6ea241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5878ec2654027" /><Relationship Type="http://schemas.openxmlformats.org/officeDocument/2006/relationships/notesSlide" Target="/ppt/notesSlides/notesSlide1.xml" Id="Rb3943a89ddd746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eafde822a4b85" /><Relationship Type="http://schemas.openxmlformats.org/officeDocument/2006/relationships/notesSlide" Target="/ppt/notesSlides/notesSlide2.xml" Id="R4bdb8039a97f42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8ff7edcba48f4" /><Relationship Type="http://schemas.openxmlformats.org/officeDocument/2006/relationships/notesSlide" Target="/ppt/notesSlides/notesSlide3.xml" Id="R83f97e63e63d49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246ca97da4b85" /><Relationship Type="http://schemas.openxmlformats.org/officeDocument/2006/relationships/notesSlide" Target="/ppt/notesSlides/notesSlide4.xml" Id="Rdfbb057d944348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08ba96da6493a" /><Relationship Type="http://schemas.openxmlformats.org/officeDocument/2006/relationships/notesSlide" Target="/ppt/notesSlides/notesSlide5.xml" Id="R0db64b22cddd4ff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23d76f2fe48ef" /><Relationship Type="http://schemas.openxmlformats.org/officeDocument/2006/relationships/image" Target="/ppt/media/image.png" Id="R8f83fe8e71c5422c" /><Relationship Type="http://schemas.openxmlformats.org/officeDocument/2006/relationships/notesSlide" Target="/ppt/notesSlides/notesSlide6.xml" Id="R62d5f58e46cc4f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379f9e8d14302" /><Relationship Type="http://schemas.openxmlformats.org/officeDocument/2006/relationships/image" Target="/ppt/media/image2.png" Id="Rab8999f4a7774758" /><Relationship Type="http://schemas.openxmlformats.org/officeDocument/2006/relationships/notesSlide" Target="/ppt/notesSlides/notesSlide7.xml" Id="R9a4682e2f39747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55a88b01944eb" /><Relationship Type="http://schemas.openxmlformats.org/officeDocument/2006/relationships/image" Target="/ppt/media/image3.png" Id="R0795600bf61a461c" /><Relationship Type="http://schemas.openxmlformats.org/officeDocument/2006/relationships/notesSlide" Target="/ppt/notesSlides/notesSlide8.xml" Id="Rab891ab8674f41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ac713bfaf403f" /><Relationship Type="http://schemas.openxmlformats.org/officeDocument/2006/relationships/image" Target="/ppt/media/image4.png" Id="R473f41765d784615" /><Relationship Type="http://schemas.openxmlformats.org/officeDocument/2006/relationships/notesSlide" Target="/ppt/notesSlides/notesSlide9.xml" Id="R2a6ab5cb2e334c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1999f056dc467a" /><Relationship Type="http://schemas.openxmlformats.org/officeDocument/2006/relationships/image" Target="/ppt/media/image5.png" Id="Ref47db6963094702" /><Relationship Type="http://schemas.openxmlformats.org/officeDocument/2006/relationships/notesSlide" Target="/ppt/notesSlides/notesSlide10.xml" Id="Rdd0d2f0f70a44c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141417f24415f" /><Relationship Type="http://schemas.openxmlformats.org/officeDocument/2006/relationships/image" Target="/ppt/media/image6.png" Id="Ra4d4af6855c8434f" /><Relationship Type="http://schemas.openxmlformats.org/officeDocument/2006/relationships/notesSlide" Target="/ppt/notesSlides/notesSlide11.xml" Id="R892d19175aab4c3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36565ea3d46ae" /><Relationship Type="http://schemas.openxmlformats.org/officeDocument/2006/relationships/notesSlide" Target="/ppt/notesSlides/notesSlide12.xml" Id="R60fb3ac1cafd4f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5ff94901043ca" /><Relationship Type="http://schemas.openxmlformats.org/officeDocument/2006/relationships/notesSlide" Target="/ppt/notesSlides/notesSlide13.xml" Id="R9049371c4bb44c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428fcc5d14bda" /><Relationship Type="http://schemas.openxmlformats.org/officeDocument/2006/relationships/image" Target="/ppt/media/image7.png" Id="Rbfee546945014ee5" /><Relationship Type="http://schemas.openxmlformats.org/officeDocument/2006/relationships/notesSlide" Target="/ppt/notesSlides/notesSlide14.xml" Id="R9f2d516f44694a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d33c104444937" /><Relationship Type="http://schemas.openxmlformats.org/officeDocument/2006/relationships/image" Target="/ppt/media/image8.png" Id="R66e3ce743e394e6b" /><Relationship Type="http://schemas.openxmlformats.org/officeDocument/2006/relationships/notesSlide" Target="/ppt/notesSlides/notesSlide15.xml" Id="R3c76d84d0b00402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52c70e3254597" /><Relationship Type="http://schemas.openxmlformats.org/officeDocument/2006/relationships/image" Target="/ppt/media/image9.png" Id="Rece7603988a54306" /><Relationship Type="http://schemas.openxmlformats.org/officeDocument/2006/relationships/notesSlide" Target="/ppt/notesSlides/notesSlide16.xml" Id="R91158abdc00d40f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3db0345724ebf" /><Relationship Type="http://schemas.openxmlformats.org/officeDocument/2006/relationships/image" Target="/ppt/media/image10.png" Id="R817f5a33187642f8" /><Relationship Type="http://schemas.openxmlformats.org/officeDocument/2006/relationships/notesSlide" Target="/ppt/notesSlides/notesSlide17.xml" Id="R5a0bc5fbbc9a46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141ca31594ae9" /><Relationship Type="http://schemas.openxmlformats.org/officeDocument/2006/relationships/image" Target="/ppt/media/image11.png" Id="R0562c28e911e45f3" /><Relationship Type="http://schemas.openxmlformats.org/officeDocument/2006/relationships/notesSlide" Target="/ppt/notesSlides/notesSlide18.xml" Id="R6f8c46597adb4ab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c3797b17a74635" /><Relationship Type="http://schemas.openxmlformats.org/officeDocument/2006/relationships/image" Target="/ppt/media/image12.png" Id="R0475d31129e54341" /><Relationship Type="http://schemas.openxmlformats.org/officeDocument/2006/relationships/notesSlide" Target="/ppt/notesSlides/notesSlide19.xml" Id="R0780ec20b9ce48f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a48513038a4ecb" /><Relationship Type="http://schemas.openxmlformats.org/officeDocument/2006/relationships/notesSlide" Target="/ppt/notesSlides/notesSlide20.xml" Id="R273aaa2efee745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E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4B90C-AC75-423D-BD81-9D3207CC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85875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6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臺灣總統就職演說的詞語變化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32F0D-34CA-442C-B123-287293A9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A9D2FF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A9D2FF"/>
                </a:solidFill>
                <a:latin typeface="Heiti TC"/>
                <a:ea typeface="Heiti TC"/>
                <a:cs typeface="Heiti TC"/>
              </a:rPr>
              <a:t>Voyant 圖像 × Excel 上下文編碼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72D60-47C7-4425-9AAD-09C8E6A2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3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FFF0DF-2AEC-40A2-B5CA-BFF9758B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552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中國與兩岸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5DD1E8-5E54-4852-9094-5F8D924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0520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4A98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6139B-E9ED-427F-88D0-D9355D46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1475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6C23E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F6C23E"/>
                </a:solidFill>
                <a:latin typeface="Heiti TC"/>
                <a:ea typeface="Heiti TC"/>
                <a:cs typeface="Heiti TC"/>
              </a:rPr>
              <a:t>大字版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5B6F1-788A-4306-8B71-3E91A8CF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六種圖表｜逐句證據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451207-8AB6-4AD3-9E4C-4A97C4D7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436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D2F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A9D2FF"/>
                </a:solidFill>
                <a:latin typeface="Heiti TC"/>
                <a:ea typeface="Heiti TC"/>
                <a:cs typeface="Heiti TC"/>
              </a:rPr>
              <a:t>1996–2024｜八篇就職演說</a:t>
            </a:r>
          </a:p>
        </p:txBody>
      </p:sp>
    </p:spTree>
    <p:extLst>
      <p:ext uri="{BB962C8B-B14F-4D97-AF65-F5344CB8AC3E}">
        <p14:creationId xmlns:p14="http://schemas.microsoft.com/office/powerpoint/2010/main" val="15019266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1029BF5-0334-4200-93D3-3D41709A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FE917C-E885-48A5-BD36-2CC9064B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FD76B3-79AD-4BA3-92DF-D2EAF89A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閱讀方式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C556D-36CB-4DF2-B49F-229FB430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64DDF-D31B-4978-BE5E-8786D203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1FA1B-2F59-4EF9-89FF-54990A24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先看圖，再用原句確認意義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A5449-2D28-4881-8C12-33CEFA51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1047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1A34C-5C54-4899-A1AD-C4F909CC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314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5C5FE-D36E-4454-854B-3C829041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2954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詞雲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2B54F7-3F31-46C3-9546-7A00BD9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3239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整體次數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F9832B-9495-46EF-BA49-3855C685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0492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依真實詞頻排序；每個詞直接標次數。0 次不顯示。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30D46-87E7-4ACD-A2D9-0E89A8C4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047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A5EA8-920A-4171-8925-A8CF8071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456517-1AAB-4368-A3BD-BA724683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9621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趨勢圖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60E64-A1DC-4B7B-B325-7E9530D3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907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跨年份變化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0B0D2-BF7F-45E4-A220-00465EF2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716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使用相對頻率，避免演說長短造成誤判。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2BEA6-AE6C-4C1B-8AE2-066E734B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33650"/>
            <a:ext cx="1047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29CAF-67FC-494A-BB2A-46777F31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A6D768-97FB-4C67-B29E-D3D88BC3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289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氣泡線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59A7C-D3E5-4BAF-AB5E-93A354838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574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文章內位置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01BA5-2F1C-4CCA-B99E-51915453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3842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查看關鍵詞集中在哪一篇、哪一段。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F7DD31-6F33-4D17-A031-34622CFF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1047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D4435-55FB-4EDB-BD03-2E612AF1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36173-9D96-4600-964F-437AB3FC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565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Context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FEC1B-2E36-4478-B793-7D711BA4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242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左右文／原句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6DC137-D4FE-4C44-80DA-7AAB6C45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0517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回到句子判斷合作、和解、防衛、威脅。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4656AD-9101-41EB-84DE-EE3E8243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477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52C004-6509-4E63-B8D5-595775C0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C3502C-0173-4C51-835F-4E2C4113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62400"/>
            <a:ext cx="156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Collocates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A50043-7D04-4F37-B167-B95FF23F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9097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鄰近搭配詞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7F10A-9216-4BD8-B6D9-F484EB4F3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71925"/>
            <a:ext cx="600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只保留可由原句與精確片語複核的搭配。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60ACCC-3659-4077-ABA5-740BC3C5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86300"/>
            <a:ext cx="1047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E4D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A4FB09-72DB-434B-91E6-79D5B4AF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3E4D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C73E4D"/>
                </a:solidFill>
                <a:latin typeface="Heiti TC"/>
                <a:ea typeface="Heiti TC"/>
                <a:cs typeface="Heiti TC"/>
              </a:rPr>
              <a:t>未採用：相關性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49FC52C-E7A2-4724-9865-922000C0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10125"/>
            <a:ext cx="7867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只有 8 篇文件，主要結果接近 0 且未達顯著，因此不放入分析頁。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AAE1FC-39E2-4EE1-91F7-BF894128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A4A828-8520-421A-8994-26F309E0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判讀原則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5CC828-8ADD-4A81-B55A-771D158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詞頻指出「何時變多」；Excel 編碼回答「這句話在說什麼」。</a:t>
            </a:r>
          </a:p>
        </p:txBody>
      </p:sp>
    </p:spTree>
    <p:extLst>
      <p:ext uri="{BB962C8B-B14F-4D97-AF65-F5344CB8AC3E}">
        <p14:creationId xmlns:p14="http://schemas.microsoft.com/office/powerpoint/2010/main" val="298985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16046-1638-4FD3-BFBE-BFE26BD2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EF795-2B16-4488-ABFF-B7B07DB9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1A314-0054-46FB-A37B-C772DDD7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查詢設定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6C5EA-428E-4B5C-A9DF-A857BE47E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02AB1-73C5-4EED-BE04-BC63FB39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FA243-78A1-410D-8A9C-499597E6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中文斷詞查詢：空格與底線不能混用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A0492-2FD3-40B3-9AF0-AE28C689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本語料採 Automatic／ICU 中文斷詞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CCDB0-31F2-4B9C-AF75-9867D51B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001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2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B1C70-4D5D-45B4-8C7A-01698361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38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A｜空格片語查詢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9A4721-1C12-4104-9EDF-0D7319E0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71675"/>
            <a:ext cx="4533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C0A293-9BD3-4A61-B931-7D6CF4CE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"中 國"　"兩 岸"　"經 濟 安 全"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D135C7-B607-4FB0-8F3D-CD113ED0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4343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適用：目前這份 Voyant corpus。</a:t>
            </a:r>
          </a:p>
          <a:p xmlns:a="http://schemas.openxmlformats.org/drawingml/2006/main">
            <a:pPr algn="l">
              <a:defRPr sz="142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寫法：字元間留空格，外面加雙引號。</a:t>
            </a:r>
          </a:p>
          <a:p xmlns:a="http://schemas.openxmlformats.org/drawingml/2006/main">
            <a:pPr algn="l">
              <a:defRPr sz="142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效果：依順序尋找相鄰詞元，屬於精確片語查詢。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9BBDF6-3784-42B3-A492-28B46193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576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實測：中國 36｜兩岸 97｜經濟安全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4499C0-9062-40F8-88FB-F943B8A1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00150"/>
            <a:ext cx="5048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9D2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69125-2B59-406A-A295-B75AD49E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438275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95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B｜底線固定詞元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2E71F-FB7E-4641-AB89-A03DE23B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71675"/>
            <a:ext cx="45339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A9062-B71C-4483-B58B-F110B031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43125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248B9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7248B9"/>
                </a:solidFill>
                <a:latin typeface="Heiti TC"/>
                <a:ea typeface="Heiti TC"/>
                <a:cs typeface="Heiti TC"/>
              </a:rPr>
              <a:t>中_國　兩_岸　經_濟_安_全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614CA4-DB30-4417-99D4-F04D183A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3434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適用：匯入前已先做斷詞與替換的另一份語料。</a:t>
            </a:r>
          </a:p>
          <a:p xmlns:a="http://schemas.openxmlformats.org/drawingml/2006/main">
            <a:pPr algn="l">
              <a:defRPr sz="142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條件：原始文字必須真的保留底線為單一詞元。</a:t>
            </a:r>
          </a:p>
          <a:p xmlns:a="http://schemas.openxmlformats.org/drawingml/2006/main">
            <a:pPr algn="l">
              <a:defRPr sz="142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不能只在目前 corpus 的搜尋框把空格改成底線。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62FDA4-83B2-47C6-989C-E8EB1B01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57675"/>
            <a:ext cx="4343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73E4D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C73E4D"/>
                </a:solidFill>
                <a:latin typeface="Heiti TC"/>
                <a:ea typeface="Heiti TC"/>
                <a:cs typeface="Heiti TC"/>
              </a:rPr>
              <a:t>目前語料實測會膨脹：784｜241｜360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9203D-9DF9-41DE-9EF3-42FC99C0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1047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700398-F8AD-421C-8927-62803300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673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6C23E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F6C23E"/>
                </a:solidFill>
                <a:latin typeface="Heiti TC"/>
                <a:ea typeface="Heiti TC"/>
                <a:cs typeface="Heiti TC"/>
              </a:rPr>
              <a:t>建議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5F7C9D-4649-46F2-BBC9-6722ABAB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400675"/>
            <a:ext cx="882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本簡報全部使用「雙引號＋空格」；若改用底線，必須重新預處理並重建 corpus。</a:t>
            </a:r>
          </a:p>
        </p:txBody>
      </p:sp>
    </p:spTree>
    <p:extLst>
      <p:ext uri="{BB962C8B-B14F-4D97-AF65-F5344CB8AC3E}">
        <p14:creationId xmlns:p14="http://schemas.microsoft.com/office/powerpoint/2010/main" val="17349064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2E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2B4753-52A1-475F-86CA-C221E4868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0" b="1">
                <a:solidFill>
                  <a:srgbClr val="004A98"/>
                </a:solidFill>
                <a:latin typeface="Heiti TC"/>
                <a:ea typeface="Heiti TC"/>
                <a:cs typeface="Heiti TC"/>
              </a:defRPr>
            </a:pPr>
            <a:r>
              <a:rPr sz="9000" b="1">
                <a:solidFill>
                  <a:srgbClr val="004A98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715E8-9D34-49C4-AD01-30AB1C92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433D7-CAED-4D29-8EE6-1AD055C3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3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D36A08-E277-48DC-A364-D63EF815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D2FF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A9D2FF"/>
                </a:solidFill>
                <a:latin typeface="Heiti TC"/>
                <a:ea typeface="Heiti TC"/>
                <a:cs typeface="Heiti TC"/>
              </a:rPr>
              <a:t>中國 36｜兩岸 97｜對岸 7｜北京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5CDD7-08B3-41EE-8EBA-6D47EAF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問題：稱呼如何隨年份改變？又如何從合作、和解移向防衛與威脅？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B9299-7C8A-4A7E-ADAC-0E79009A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D2FF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A9D2FF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07267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10D070-516B-4DA0-ABE4-E469FE5C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29265-AFB8-49E1-A6C3-AEB4888C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B35BA-060E-4576-AFD7-5C5F8E20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23B36-64B8-4A03-9CB5-CB850C20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2FB40-C884-418D-A203-540D5D7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37C40-239E-4A26-BB90-48BFE32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正確文字雲：以真實出現次數縮放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A354C-A403-4C89-B0A0-C0E09E4D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Corpus Terms 原始次數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DEF92-3E29-4027-AB47-A34F031D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370"/>
          </a:bodyPr>
          <a:lstStyle xmlns:a="http://schemas.openxmlformats.org/drawingml/2006/main"/>
          <a:p xmlns:a="http://schemas.openxmlformats.org/drawingml/2006/main">
            <a:pPr algn="ctr">
              <a:defRPr sz="540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540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兩岸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42BF0D-4EE1-4E00-98EB-F7E5FA57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622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7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DD7F13-64FF-4D44-83CA-173649B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907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97 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EC41C-AB93-4284-9C80-C6F160E8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954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39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中國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65E89-D3C2-404A-A497-592EB17F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574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2E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84784B-CCEA-448B-8ED3-E2F7C5AE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86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36 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A1999-271F-4FF0-ADA2-4473D92D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526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對岸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988448-A2CC-4493-8CD7-F3813E0F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14625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9B5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E00DE-6898-4ABD-957D-5262B279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432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7 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41D0F-96B1-48FA-9561-6276804F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248B9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7248B9"/>
                </a:solidFill>
                <a:latin typeface="Heiti TC"/>
                <a:ea typeface="Heiti TC"/>
                <a:cs typeface="Heiti TC"/>
              </a:rPr>
              <a:t>北京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67246-616D-4854-B53B-504EC23F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09875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48B9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1E07FF-F8D1-4F14-A1FD-0AD67B78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384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48B9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7248B9"/>
                </a:solidFill>
                <a:latin typeface="Heiti TC"/>
                <a:ea typeface="Heiti TC"/>
                <a:cs typeface="Heiti TC"/>
              </a:rPr>
              <a:t>3 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629A1-CEBF-4F94-8468-DB5C7434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10363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49245D-001D-4D5C-B30E-3BFA4A42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243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97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089044-3B2C-412C-8376-91949BDE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243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ACD439-9CE6-4F90-93ED-E4A8FBC4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243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6E02C3-360C-411A-8AB3-665D3348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243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248B9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7248B9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C449D3-D80B-473E-B65B-2FB72E5E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兩岸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7CCEB-BFC6-4AC9-A212-60AC6C14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62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中國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2E2DF2-F0DF-4E77-87D3-F5259176D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62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對岸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53642-B5FA-4881-B692-F1AD189D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6247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北京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DA69F-80CE-4644-A5AA-49AF323F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00684-7D54-4334-82BA-18B3FA2A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讀法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07ED2A-085E-4B56-B81E-0FB48667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「兩岸」是最穩定的關係稱呼；低頻詞不應被放大成主要概念。</a:t>
            </a:r>
          </a:p>
        </p:txBody>
      </p:sp>
    </p:spTree>
    <p:extLst>
      <p:ext uri="{BB962C8B-B14F-4D97-AF65-F5344CB8AC3E}">
        <p14:creationId xmlns:p14="http://schemas.microsoft.com/office/powerpoint/2010/main" val="20447340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4784D-3E0B-47A2-BA8D-8E5916DC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88FB-3BE9-4D3F-BAA1-C64D2B8E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5C746-6A48-49E5-BEF3-F772F762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E4958-68EB-45B2-BF9F-C32469056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0365C-D508-4705-9C7C-6ECDC105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4AFAC-23CA-4B99-87F5-DF69123C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趨勢圖｜稱呼的年份變化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4B9399-535B-488F-9C05-71DA7D9D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截圖放大：單一工具一頁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3fe8e71c5422c"/>
          <a:stretch xmlns:a="http://schemas.openxmlformats.org/drawingml/2006/main"/>
        </p:blipFill>
        <p:spPr>
          <a:xfrm xmlns:a="http://schemas.openxmlformats.org/drawingml/2006/main">
            <a:off x="2514600" y="1066800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A48DC-75CD-4449-AC6E-E0DBC5FB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1111D4-1856-4130-947A-4799A2E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E698AA-43D5-44F6-9409-9E6B143B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「中國」1996最高、2016與2020為零、2024再現；「兩岸」2004–2012較高，之後下降。</a:t>
            </a:r>
          </a:p>
        </p:txBody>
      </p:sp>
    </p:spTree>
    <p:extLst>
      <p:ext uri="{BB962C8B-B14F-4D97-AF65-F5344CB8AC3E}">
        <p14:creationId xmlns:p14="http://schemas.microsoft.com/office/powerpoint/2010/main" val="146245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42502-B0C3-4E77-8BD0-0CB3700E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14313-09B3-49BF-A053-9B3AC8AF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7B435-0176-42AB-95AD-03C1C24C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28176-674E-42F3-A317-FE83830C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7A376-C951-4243-9DF1-07485CE6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07BF0-5430-4019-9967-1EA6E06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氣泡線｜每篇演說中的位置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634906-8E1C-48B3-8D57-7610E3CE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截圖放大：單一工具一頁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999f4a7774758"/>
          <a:stretch xmlns:a="http://schemas.openxmlformats.org/drawingml/2006/main"/>
        </p:blipFill>
        <p:spPr>
          <a:xfrm xmlns:a="http://schemas.openxmlformats.org/drawingml/2006/main">
            <a:off x="2514600" y="1066800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78892C-9D18-4557-89F3-E84AF951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34928-39CD-4921-9BDA-31C0FF3E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F7F08-12ED-4E1E-9C19-931761BD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2004–2012 的「兩岸」分布較密集；2024的相關用語集中於安全、和平與中國政策段落。</a:t>
            </a:r>
          </a:p>
        </p:txBody>
      </p:sp>
    </p:spTree>
    <p:extLst>
      <p:ext uri="{BB962C8B-B14F-4D97-AF65-F5344CB8AC3E}">
        <p14:creationId xmlns:p14="http://schemas.microsoft.com/office/powerpoint/2010/main" val="5286059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7C0BC2-B298-43E2-B401-ED81417B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C9AF0-BF70-4CFF-A039-F69A9331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3D901-3C12-48BC-B9CE-12097163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1B2AA6-0A79-4AA5-A4C4-E9436522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4F32D-EBDC-4347-82B5-8BB2B52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7964B-FA4B-4C5B-8C28-613A450B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Excel 年度摘要｜態度框架如何改變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277470-4F2A-49BD-B550-0987858B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原始 Excel 工作表截圖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F18F2-0691-4010-B4AC-347EA1BE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810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95600bf61a461c"/>
          <a:stretch xmlns:a="http://schemas.openxmlformats.org/drawingml/2006/main"/>
        </p:blipFill>
        <p:spPr>
          <a:xfrm xmlns:a="http://schemas.openxmlformats.org/drawingml/2006/main">
            <a:off x="2043456" y="1143000"/>
            <a:ext cx="5057087" cy="432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EFC39-666E-4C47-97A4-1891054A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00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從表格讀出的結論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F0EED-5D68-43B8-910B-FFCD2104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E9914-EE9C-430D-9FF4-E8E0144B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2008 年「和解」8 句，為全期最高。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8640B-F9AE-41C6-8D21-0453CD1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B88BCA-F8E8-4309-9C17-40E5F7ED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2012 年「合作」7 句，制度化交流最集中。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2BA53F-F88F-4624-A9ED-73825A3C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94292-5C41-4223-A1B4-72F9DBA8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2020 年防衛增至 4 句，2024 年威脅增至 4 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3717C3-8A42-44FA-B1B3-791B0167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ABBF04-D07B-470D-A413-67ED0712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用途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5764D9-64C7-4491-9E67-61B8C854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年度摘要把搜尋詞轉成可比較的合作、和解、防衛與威脅句數。</a:t>
            </a:r>
          </a:p>
        </p:txBody>
      </p:sp>
    </p:spTree>
    <p:extLst>
      <p:ext uri="{BB962C8B-B14F-4D97-AF65-F5344CB8AC3E}">
        <p14:creationId xmlns:p14="http://schemas.microsoft.com/office/powerpoint/2010/main" val="9756183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91BA4C-DECD-4594-8A71-234263D4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1739A3-6B18-4C91-A167-99E829B9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CF57F-CB10-4A02-8239-56544B8F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723BC6-076E-4EF4-93CC-5B5E24AE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3CCCE-A28C-4AA5-90E2-6607C180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B6A28-A728-450C-8091-366BCCCB0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Excel 逐句編碼｜詞頻不等於立場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87ED85-B3B0-4CC8-801D-3C8EFE7F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原始 Excel 工作表截圖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52A8C-29F4-458B-A846-6DAB5379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810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f41765d784615"/>
          <a:stretch xmlns:a="http://schemas.openxmlformats.org/drawingml/2006/main"/>
        </p:blipFill>
        <p:spPr>
          <a:xfrm xmlns:a="http://schemas.openxmlformats.org/drawingml/2006/main">
            <a:off x="2022435" y="1143000"/>
            <a:ext cx="5099129" cy="432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FF8A3-D1AA-45F2-9205-C6CEF0CD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00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從表格讀出的結論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5B19D-9234-4792-8A68-D9C2E952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FE5B7-BD26-4D32-8253-C5138207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1996 年多個「中國」是身分或歷史背景。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DC390-4353-4C17-9F30-D770195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27FBD-67EF-4C40-BBF4-7CD3A33C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同一詞必須查看完整句子與指涉對象。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B7803-4AC3-407F-A1EA-0E7A2FF1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9EC6B-5449-4ACE-925B-731CE883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主要編碼與次要編碼保留複合態度。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A3A07D-0B3E-4BE9-B133-EAF17306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12F01-B686-422B-A32A-D8D68A84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用途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AF1B4C-0E64-4754-A461-4A7232A4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逐句表是 Context 判讀的證據來源，不直接以單一關鍵詞推論態度。</a:t>
            </a:r>
          </a:p>
        </p:txBody>
      </p:sp>
    </p:spTree>
    <p:extLst>
      <p:ext uri="{BB962C8B-B14F-4D97-AF65-F5344CB8AC3E}">
        <p14:creationId xmlns:p14="http://schemas.microsoft.com/office/powerpoint/2010/main" val="16819342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ED103-4B37-4980-A3F7-5C8D27306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28D54-7EAD-405F-9B23-98063A8D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5A0C6-2599-4F92-87BD-1DD51077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680AE-085C-4DEB-BEDB-D5E4F8C9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8389C-DF9D-4E35-8057-D533F0CF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03851-52B9-483A-A8DF-FC1E20FD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Context｜由原句判斷態度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FFCF9-9F23-438E-B6A7-0BF8E2CC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上：Voyant 左右文｜下：Excel 逐句編碼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7db6963094702"/>
          <a:stretch xmlns:a="http://schemas.openxmlformats.org/drawingml/2006/main"/>
        </p:blipFill>
        <p:spPr>
          <a:xfrm xmlns:a="http://schemas.openxmlformats.org/drawingml/2006/main">
            <a:off x="2350576" y="1066800"/>
            <a:ext cx="7490847" cy="276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05EFED-8384-40B0-AC32-D3B66F61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71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9B5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ADFD5-88E0-4AEE-AD01-C2649D1C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2008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A64DF-05F3-4BCB-BEBD-42D9545F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52900"/>
            <a:ext cx="8572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9B5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54538B-166C-4573-89EC-0064F218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81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合作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D1672-2C41-4C33-9E2B-3BE7FE36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「兩岸走向雙贏…經貿往來與文化交流…做好協商的準備。」（2008-05）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6191B-329A-4E12-8741-E89A63DF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3371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3E4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1129AE-1679-4BF3-8358-061548226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52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3E4D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C73E4D"/>
                </a:solidFill>
                <a:latin typeface="Heiti TC"/>
                <a:ea typeface="Heiti TC"/>
                <a:cs typeface="Heiti TC"/>
              </a:rPr>
              <a:t>2020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F18F55-1A25-4ABF-BB80-26599791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52900"/>
            <a:ext cx="8572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C73E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7B2044-BE06-4594-811A-CB60450F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81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威脅＋防衛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5F8CFF-3154-4082-975B-05770542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053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「不會接受北京當局以『一國兩制』矮化台灣、破壞台海現狀。」（2020-04）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274DE-27B1-4220-8576-8B705977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371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2E6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6B38D-FBDF-4B9B-8CCC-8A53B803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E9BE23-DAF5-454A-B8CF-85863CE0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52900"/>
            <a:ext cx="8572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BD8CA9-659A-4058-8E24-37BA87797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81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威脅＋嚇阻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A7AE3-D134-4129-9127-D41694C6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053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「中國的各種威脅滲透…強化國防…建構經濟安全…發揮威懾力量。」（2024-06）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A9063E-8619-465C-B8B5-A7D1CD99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結論：2008 的重點是協商與雙贏。2020 轉為拒絕一國兩制。2024 同時出現威脅、嚇阻與有條件對話。</a:t>
            </a:r>
          </a:p>
        </p:txBody>
      </p:sp>
    </p:spTree>
    <p:extLst>
      <p:ext uri="{BB962C8B-B14F-4D97-AF65-F5344CB8AC3E}">
        <p14:creationId xmlns:p14="http://schemas.microsoft.com/office/powerpoint/2010/main" val="9590386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5277F-0573-4D11-AC97-FDDA4B04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557AEA-48F9-4F10-AC65-3D57230C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04570-DA09-4290-85EE-CC1BDFC0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中國與兩岸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CA60DD-1381-41F6-8422-436468B3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19C94-F1E6-480A-9567-0EFFF56A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BAFF5-BAF0-42D3-A4BE-F0C46B1E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Collocates｜「兩岸」主要連到關係與和平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DB593-33AA-464F-9965-67015FD7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表格區域裁切放大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514A3-6EF1-421C-B82B-34453CF0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52475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d4af6855c8434f"/>
          <a:stretch xmlns:a="http://schemas.openxmlformats.org/drawingml/2006/main"/>
        </p:blipFill>
        <p:spPr>
          <a:xfrm xmlns:a="http://schemas.openxmlformats.org/drawingml/2006/main">
            <a:off x="2390394" y="1143000"/>
            <a:ext cx="4039362" cy="434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26E56-D0F7-4AB1-945C-643A01E0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23950"/>
            <a:ext cx="2857500" cy="4343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62D445-BFF0-4199-8BF5-A564C188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33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怎麼讀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C0D01-C6F7-44E6-8A79-5C0586284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85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E20B8-2B6F-4C62-9BD1-1B7CC427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383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「兩岸關係」22 次，「兩岸和平」10 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F99051-EE12-4314-8431-231B3086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E7FC50-D575-436B-AE6E-41BB904A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146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「兩岸」附近常見人民15次、和平14次。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A6772A-1F5A-483D-98A8-50F3EA27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836D6-138F-402D-B215-ED33E0C4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909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「中國」附近的人16次與大陸9次，多含身分或地理用法。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CEC71E-CE29-4885-BF7B-310A235C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2AB76-0502-4EBB-8BB1-C51C3795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836BE-00AF-4B2B-85A8-A368022E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3E4D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C73E4D"/>
                </a:solidFill>
                <a:latin typeface="Heiti TC"/>
                <a:ea typeface="Heiti TC"/>
                <a:cs typeface="Heiti TC"/>
              </a:rPr>
              <a:t>可講的結論：「兩岸」主要是關係治理框架；威脅判斷仍須依 Context 原句。</a:t>
            </a:r>
          </a:p>
        </p:txBody>
      </p:sp>
    </p:spTree>
    <p:extLst>
      <p:ext uri="{BB962C8B-B14F-4D97-AF65-F5344CB8AC3E}">
        <p14:creationId xmlns:p14="http://schemas.microsoft.com/office/powerpoint/2010/main" val="16401253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52E6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B1AE1-F45A-4A4C-92C4-5990D28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0" b="1">
                <a:solidFill>
                  <a:srgbClr val="004A98"/>
                </a:solidFill>
                <a:latin typeface="Heiti TC"/>
                <a:ea typeface="Heiti TC"/>
                <a:cs typeface="Heiti TC"/>
              </a:defRPr>
            </a:pPr>
            <a:r>
              <a:rPr sz="9000" b="1">
                <a:solidFill>
                  <a:srgbClr val="004A98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852015-A360-4156-A4A3-BCB6909A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DECB4-C08C-487D-91D0-25873B85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2000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23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FC73F-6C65-4DF0-9828-CEFC5419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42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9D2FF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A9D2FF"/>
                </a:solidFill>
                <a:latin typeface="Heiti TC"/>
                <a:ea typeface="Heiti TC"/>
                <a:cs typeface="Heiti TC"/>
              </a:rPr>
              <a:t>經濟、產業、成長、就業 × 國家、台灣／臺灣、政府、人民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183BD-C7E7-49CE-BDD9-471FB13D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問題：經濟論述如何從成長與福祉，逐步連結產業、國家能力與安全？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95FCC7-8A75-41C1-B62F-26C1A6E8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A9D2FF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A9D2FF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69462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5E7DBA-217A-4AD2-BF4A-3B5526BF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EA8BC-3F86-4DE6-807E-7AD8D1E8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824E6-DED4-4ED5-B1B9-9EADBD0D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C0995A-DC92-417C-ADA8-F9F2DB1F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8DFD37-0A03-46BD-932A-AE04B527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89DBF5-D7F8-421E-BA4C-386ACDCF3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正確文字雲：合併「台灣／臺灣」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DF5D8-8BA6-4201-B31A-6BE35B50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Corpus Terms 原始次數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BF057F-B717-41E5-88AE-164575228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38250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台灣／臺灣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8E550-0A3A-4D61-A1B2-4D48928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383 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42BE5-B426-49E7-9460-BC588AA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2192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35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國家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37F813-E5CF-405B-A69E-39E73049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9812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52E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F80DB-5C91-4279-9A60-82C375B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0097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171 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C1595-54D8-450D-8E37-C934C7297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3906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人民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6704C-F58F-4398-A0EB-F9F9181A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526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9B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C82FF9-D913-4F58-9897-224748D3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1812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157 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8B021-0CBD-4045-B941-CD6BF2F6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248B9"/>
                </a:solidFill>
                <a:latin typeface="Heiti TC"/>
                <a:ea typeface="Heiti TC"/>
                <a:cs typeface="Heiti TC"/>
              </a:defRPr>
            </a:pPr>
            <a:r>
              <a:rPr sz="2850" b="1">
                <a:solidFill>
                  <a:srgbClr val="7248B9"/>
                </a:solidFill>
                <a:latin typeface="Heiti TC"/>
                <a:ea typeface="Heiti TC"/>
                <a:cs typeface="Heiti TC"/>
              </a:rPr>
              <a:t>政府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E0A2D-B6E0-48F0-A2E2-F37139E3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195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248B9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22A34-D10A-4FC6-B072-F213D13C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480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248B9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7248B9"/>
                </a:solidFill>
                <a:latin typeface="Heiti TC"/>
                <a:ea typeface="Heiti TC"/>
                <a:cs typeface="Heiti TC"/>
              </a:rPr>
              <a:t>123 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D2AE4C-41A0-4BDD-979F-8F42EC05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908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004A98"/>
                </a:solidFill>
                <a:latin typeface="Heiti TC"/>
                <a:ea typeface="Heiti TC"/>
                <a:cs typeface="Heiti TC"/>
              </a:defRPr>
            </a:pPr>
            <a:r>
              <a:rPr sz="2625" b="1">
                <a:solidFill>
                  <a:srgbClr val="004A98"/>
                </a:solidFill>
                <a:latin typeface="Heiti TC"/>
                <a:ea typeface="Heiti TC"/>
                <a:cs typeface="Heiti TC"/>
              </a:rPr>
              <a:t>經濟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6CF6D-20CE-4697-BDCF-0AD29FED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A9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3A4CC-D9FA-4F1B-A709-6DD024BE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814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4A98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4A98"/>
                </a:solidFill>
                <a:latin typeface="Heiti TC"/>
                <a:ea typeface="Heiti TC"/>
                <a:cs typeface="Heiti TC"/>
              </a:rPr>
              <a:t>108 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8E6A8-6D54-431E-98F0-5D6349C6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051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產業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D91F00-7826-47AD-AA13-96A1369E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6715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7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C75241-7F32-4535-9912-5D14F61C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957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79 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D4863B-CBEE-442E-BE5B-2039D1D0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86125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成長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CBDBC7-C59C-439A-A558-2AA32081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48125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09B5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470AB5-30E1-4D57-B4BF-2049E9A4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07670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23 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D5AB71-35DF-43BF-A3AB-FC484F95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290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73E4D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C73E4D"/>
                </a:solidFill>
                <a:latin typeface="Heiti TC"/>
                <a:ea typeface="Heiti TC"/>
                <a:cs typeface="Heiti TC"/>
              </a:rPr>
              <a:t>就業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D65BA4-5D92-4658-A83A-556225AB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91000"/>
            <a:ext cx="9906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3E4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7F275F-F543-4CF6-8B20-12FBE9C4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195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3E4D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C73E4D"/>
                </a:solidFill>
                <a:latin typeface="Heiti TC"/>
                <a:ea typeface="Heiti TC"/>
                <a:cs typeface="Heiti TC"/>
              </a:rPr>
              <a:t>4 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717504-D0CB-4533-B6F6-22852AE2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0B0D5-DFA1-4729-9AEA-3BDAF722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讀法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8A98F-0853-49AE-8F65-FEBFD8E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「就業」只有 4 次，仍保留最小可讀字級並標示精確次數；不讓低頻詞誤導。</a:t>
            </a:r>
          </a:p>
        </p:txBody>
      </p:sp>
    </p:spTree>
    <p:extLst>
      <p:ext uri="{BB962C8B-B14F-4D97-AF65-F5344CB8AC3E}">
        <p14:creationId xmlns:p14="http://schemas.microsoft.com/office/powerpoint/2010/main" val="13564900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10308-02FC-4E47-8C3D-E42A49DD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1E4140-1620-491C-9405-57932A6C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CF35A-4C49-4C67-82E1-FA824C6F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45F1C4-3DD5-4852-A921-CBCBBD0F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316D9-7904-4B71-B377-BF7B8C8B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496133-AB26-401E-B8B7-401ABAF3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趨勢圖｜經濟詞與國家詞的消長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8CF03-EC58-45C4-82A0-D8B0C2FC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截圖放大：單一工具一頁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e546945014ee5"/>
          <a:stretch xmlns:a="http://schemas.openxmlformats.org/drawingml/2006/main"/>
        </p:blipFill>
        <p:spPr>
          <a:xfrm xmlns:a="http://schemas.openxmlformats.org/drawingml/2006/main">
            <a:off x="2514600" y="1066800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5F2B1-E375-4F64-84D3-914E660F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9AF7A1-E984-44F0-BA90-B73F5797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435DE5-D4CB-4914-8121-CB91BF60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「經濟」2016較高；「產業」2020明顯上升；2024「國家」與臺灣框架同步強化。</a:t>
            </a:r>
          </a:p>
        </p:txBody>
      </p:sp>
    </p:spTree>
    <p:extLst>
      <p:ext uri="{BB962C8B-B14F-4D97-AF65-F5344CB8AC3E}">
        <p14:creationId xmlns:p14="http://schemas.microsoft.com/office/powerpoint/2010/main" val="4115253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27061-216D-4448-B91E-7BCD8DCE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92957-BF4C-43B4-BC94-7BD4F4F4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42BB2-67D4-4391-9639-6210005D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4398-062F-48A3-9A4F-0B5786CB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6BFCE-C0A7-4089-9287-826E3CAB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728A8-0152-4E02-BEF4-FC3CAE59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氣泡線｜政策詞分布在文章哪裡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DF7202-F275-4FE0-8B45-7A773B31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截圖放大：單一工具一頁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3ce743e394e6b"/>
          <a:stretch xmlns:a="http://schemas.openxmlformats.org/drawingml/2006/main"/>
        </p:blipFill>
        <p:spPr>
          <a:xfrm xmlns:a="http://schemas.openxmlformats.org/drawingml/2006/main">
            <a:off x="2514600" y="1066800"/>
            <a:ext cx="7162800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4E7E8-9AFB-4B9F-A7B3-61864D3C4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BD352A-8A93-4BF1-915F-A4244AA3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重點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13447-6DDB-4DE2-94B6-62B336ED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2020與2024的「產業」相關詞更密集，顯示產業已由單一政策項目變成演說主軸。</a:t>
            </a:r>
          </a:p>
        </p:txBody>
      </p:sp>
    </p:spTree>
    <p:extLst>
      <p:ext uri="{BB962C8B-B14F-4D97-AF65-F5344CB8AC3E}">
        <p14:creationId xmlns:p14="http://schemas.microsoft.com/office/powerpoint/2010/main" val="11545600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503B5-90ED-4ECD-8D23-71650E07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8F94B0-5F4E-410C-A20C-9C777D971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D2B9D-B417-4969-9CA6-5A2C78E0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36A7A-91A6-4E74-BBD9-812E1FC0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3A453-B4FF-4F0E-B806-303CA9D8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22FFC-21E7-4718-9F24-092DAFBD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Excel 年度詞頻｜產業在 2020 年明顯躍升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950906-E6C3-4CDC-B78E-061FAF67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原始 Excel 工作表截圖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5716DD-98C4-44A5-A724-956CD26E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810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e7603988a54306"/>
          <a:stretch xmlns:a="http://schemas.openxmlformats.org/drawingml/2006/main"/>
        </p:blipFill>
        <p:spPr>
          <a:xfrm xmlns:a="http://schemas.openxmlformats.org/drawingml/2006/main">
            <a:off x="1286617" y="1143000"/>
            <a:ext cx="6570766" cy="432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D39E4-12C8-4D2C-933D-EB945ABA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00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從表格讀出的結論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1019D3-D3C3-4EA5-B9D0-166C5DAA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77B3D-FB6F-408B-9511-4073D3E1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2020 年「產業」命中 39 句，為全期最高。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788ED-BD1C-4579-A600-DD521F16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1AA17-F299-4047-8848-BE68FBD71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2016 年「經濟」命中 27 句，為全期最高。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77E4DA-BAA9-4296-B412-151F81F8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BEAB4-CD4F-433A-B924-7165FD55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2012 年「成長」10句、「就業」5句，民生取向較突出。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B33B73-C69A-4163-89AE-2059BD9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4EE0E-1160-4F95-AFD2-82F9CB3A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用途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14D94-C09F-444D-9197-6D90209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先用年度詞頻找出轉折點，再回到逐句編碼確認政策意義。</a:t>
            </a:r>
          </a:p>
        </p:txBody>
      </p:sp>
    </p:spTree>
    <p:extLst>
      <p:ext uri="{BB962C8B-B14F-4D97-AF65-F5344CB8AC3E}">
        <p14:creationId xmlns:p14="http://schemas.microsoft.com/office/powerpoint/2010/main" val="174405761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667B9E-BD51-49D8-A34B-22B59872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BF74B-7296-4F14-860C-88863907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2D44D-FE90-4A37-960B-A74C7A7A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8BEE7-0FE4-48DC-8574-C2B7F11E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BD634-C656-481B-883A-827333FD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07F10-217E-4771-BBD2-D3C57F95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Excel 主題編碼｜供應鏈與經濟安全集中於後期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EC2C7-B11F-4432-9DA1-A5008BAB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原始 Excel 工作表截圖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632BC-B707-4705-91BE-D2E67DDB6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7810500" cy="4476750"/>
          </a:xfrm>
          <a:prstGeom xmlns:a="http://schemas.openxmlformats.org/drawingml/2006/main" prst="roundRect">
            <a:avLst>
              <a:gd name="adj" fmla="val 17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f5a33187642f8"/>
          <a:stretch xmlns:a="http://schemas.openxmlformats.org/drawingml/2006/main"/>
        </p:blipFill>
        <p:spPr>
          <a:xfrm xmlns:a="http://schemas.openxmlformats.org/drawingml/2006/main">
            <a:off x="905703" y="1143000"/>
            <a:ext cx="7332593" cy="4324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35FE2-EC10-4EE5-BC7C-9ECC9BDF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43000"/>
            <a:ext cx="7658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9D575-87E7-4797-85EA-92586CC0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285875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55E24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355E24"/>
                </a:solidFill>
                <a:latin typeface="Heiti TC"/>
                <a:ea typeface="Heiti TC"/>
                <a:cs typeface="Heiti TC"/>
              </a:rPr>
              <a:t>年度主題編碼（1996–2024）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36842-553A-4E58-8ECA-FC5327E7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00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從表格讀出的結論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5A9BF-34CB-458E-B45F-131D81AB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790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0B8EA-7053-4363-B7B5-787F006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7240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2020 年產業升級與創新 17 句，供應鏈與經濟安全 14 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25F75E-9734-41B2-B239-07EDA89A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8DD41-633E-4DC3-B285-17FCA45C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146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2024 年產業升級與創新 9 句，供應鏈與經濟安全 4 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D69A6E-893F-46C5-B38F-916149E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719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CFF9E-29BC-40B4-B84F-7611E092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705225"/>
            <a:ext cx="209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2024 年並列就業分配、綠色轉型與供應鏈韌性。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EF835-9075-40EE-9E4F-F27B8032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04250-DB4A-4406-8114-80F45DB2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用途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9ED36F-554D-44CD-AEE5-89ECBB0BD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主題編碼顯示：2020 是一般經濟政策轉向戰略產業與韌性的關鍵點。</a:t>
            </a:r>
          </a:p>
        </p:txBody>
      </p:sp>
    </p:spTree>
    <p:extLst>
      <p:ext uri="{BB962C8B-B14F-4D97-AF65-F5344CB8AC3E}">
        <p14:creationId xmlns:p14="http://schemas.microsoft.com/office/powerpoint/2010/main" val="68112174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851933-A1DE-44E1-B9F2-2D0B4D9A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3BE96-86D6-4E46-9490-FECAE60B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E109CF-734B-4983-8260-2F0BE8E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9EC67-3780-4576-8613-2E3EEA3F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80DC4-4071-4B22-AEB1-5C229B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BE4D57-4029-40B5-A84B-75FCAA3E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Context｜經濟意義如何轉變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F9BD8-ED53-46D7-9BAB-9774FC11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上：Voyant 左右文｜下：Excel 逐句編碼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2c28e911e45f3"/>
          <a:stretch xmlns:a="http://schemas.openxmlformats.org/drawingml/2006/main"/>
        </p:blipFill>
        <p:spPr>
          <a:xfrm xmlns:a="http://schemas.openxmlformats.org/drawingml/2006/main">
            <a:off x="2350576" y="1066800"/>
            <a:ext cx="7490847" cy="2762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A62123-475F-4723-9249-95D4BA07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371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52E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173CA-0809-4C4D-831C-DAF48BBD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52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1996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CF4B89-BDC2-4B94-A182-5789A656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52900"/>
            <a:ext cx="8572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E07997-7D99-494F-B57D-2E20E064D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81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國力與民主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0B789-633C-4457-99A2-FC59F4F5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「經濟發展與政治民主，同等重要。」（1996-01）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9312B-5CF4-4C6C-9D4D-CBE0C82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038600"/>
            <a:ext cx="3371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09B5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B0A28E-451E-4EC9-BF48-5882FB21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152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9B5A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209B5A"/>
                </a:solidFill>
                <a:latin typeface="Heiti TC"/>
                <a:ea typeface="Heiti TC"/>
                <a:cs typeface="Heiti TC"/>
              </a:rPr>
              <a:t>2020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2AB26E-36B6-440B-A529-61F2C1CA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52900"/>
            <a:ext cx="8572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209B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E0A7D-D8F6-469A-AB2B-A4F5065C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181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供應鏈韌性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94C9FD-9D43-4DE1-8353-CED46378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5053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「把重要的產業鏈留在國內，維持一定的自給率。」（2020-21）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06BFD2-CC55-43DF-8F80-E9596E9A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8600"/>
            <a:ext cx="33718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77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4E977-48B1-4C0C-B546-DE3A46BB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52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50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2024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4AB2D-811D-42FD-85C8-AB1E64A4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52900"/>
            <a:ext cx="857250" cy="257175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0077E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CA1860-86BC-4997-A955-4DE004CB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181475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民主供應鏈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B5D793-FDC1-4CCB-8189-572DD788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05325"/>
            <a:ext cx="3067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0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「臺灣…是『全球民主供應鏈』的關鍵，影響世界經濟發展。」（2024-04）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1D697B-6FD9-47CC-81D9-7C54DB0E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43550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結論：1996 的經濟是發展基礎。2020 出現國內產業鏈與自給率。2024 進一步連結民主供應鏈。</a:t>
            </a:r>
          </a:p>
        </p:txBody>
      </p:sp>
    </p:spTree>
    <p:extLst>
      <p:ext uri="{BB962C8B-B14F-4D97-AF65-F5344CB8AC3E}">
        <p14:creationId xmlns:p14="http://schemas.microsoft.com/office/powerpoint/2010/main" val="1039218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74AA65-FF6D-4ADC-BC87-38E806072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C7D1A-1DFD-4A16-9777-D6956E53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11C4D1-DE3E-4AFC-BE38-5725A6E4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經濟與國家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41B60-B0F8-4BEB-AD75-34AEA6A0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BDD3F9-9D62-4C35-BA7C-BBB60DDE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7AEE4-1358-4FCB-9C44-EDF5D0D0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Collocates｜發展語言持續，安全語言集中於後期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F2450-9E42-4E28-BBCE-A1E0977C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2450"/>
            <a:ext cx="426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1050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表格區域裁切放大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36CD5-6F32-4117-9060-505E38FD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7524750" cy="449580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5d31129e54341"/>
          <a:stretch xmlns:a="http://schemas.openxmlformats.org/drawingml/2006/main"/>
        </p:blipFill>
        <p:spPr>
          <a:xfrm xmlns:a="http://schemas.openxmlformats.org/drawingml/2006/main">
            <a:off x="2390394" y="1143000"/>
            <a:ext cx="4039362" cy="4343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DBF80-AF2F-4DC7-AA06-FD4D56C4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123950"/>
            <a:ext cx="2857500" cy="43434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F01B4-95F6-4C6B-B099-8A4EF450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3335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800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怎麼讀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A936D2-6369-43BF-B5EC-2B44112D9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859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1D9A7-B003-430B-ABB1-FC05D56B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383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「經濟發展」16 次，「產業發展」11 次。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DDDA3-62A9-49D3-9E77-74341DFC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7622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415D48-59F2-4D67-95C0-339BE15E2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146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「供應鏈」6 次，只出現在2020與2024。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60EBF6-1934-4DF9-9005-EBCC16F0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4C589F-E2D7-48E2-A84C-754287CA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90925"/>
            <a:ext cx="190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425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275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「國家安全」8 次；精確片語「經濟安全」僅2024年1次。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A9BC1F-FC5D-4B7F-B736-F3A3478A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EB48F0-ADB0-4B8C-9E7A-3F6EA2CF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A6B4A-A042-4F46-99CE-B5661082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38825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73E4D"/>
                </a:solidFill>
                <a:latin typeface="Heiti TC"/>
                <a:ea typeface="Heiti TC"/>
                <a:cs typeface="Heiti TC"/>
              </a:defRPr>
            </a:pPr>
            <a:r>
              <a:rPr sz="1425" b="1">
                <a:solidFill>
                  <a:srgbClr val="C73E4D"/>
                </a:solidFill>
                <a:latin typeface="Heiti TC"/>
                <a:ea typeface="Heiti TC"/>
                <a:cs typeface="Heiti TC"/>
              </a:rPr>
              <a:t>可講的結論：發展是長期底層語彙；安全與供應鏈次數不高，但高度集中於2020後。</a:t>
            </a:r>
          </a:p>
        </p:txBody>
      </p:sp>
    </p:spTree>
    <p:extLst>
      <p:ext uri="{BB962C8B-B14F-4D97-AF65-F5344CB8AC3E}">
        <p14:creationId xmlns:p14="http://schemas.microsoft.com/office/powerpoint/2010/main" val="20682241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D7FE09-9BF8-40B5-B317-846178D2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7650" y="-247650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2AFBE3-549A-4156-A92D-381058A8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66675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675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050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B66B2-7ED4-41ED-A99F-64B995C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125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整體結論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A1F216-F75F-4B3D-A325-0D339729E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D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52B02F-6299-495E-82FE-C60E3DFB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790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8677A"/>
                </a:solidFill>
                <a:latin typeface="Heiti TC"/>
                <a:ea typeface="Heiti TC"/>
                <a:cs typeface="Heiti TC"/>
              </a:defRPr>
            </a:pPr>
            <a:r>
              <a:rPr sz="825" b="0">
                <a:solidFill>
                  <a:srgbClr val="58677A"/>
                </a:solidFill>
                <a:latin typeface="Heiti TC"/>
                <a:ea typeface="Heiti TC"/>
                <a:cs typeface="Heiti TC"/>
              </a:rPr>
              <a:t>Voyant Tools × Excel 語境編碼｜臺灣總統就職演說 1996–2024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AF0DC2-1094-4AE9-A165-7CBD5452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10820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785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從繁榮、合作，走向安全與韌性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C5CF7F-E35E-46D6-A33C-9112546B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057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C81B7B-A463-4B6E-AF14-4061BF00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1996–2004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26C344-D0EF-4060-B249-15FE6117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906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國力／民主／和解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A7F51-4298-412E-A559-5F7E3256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3525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經濟是國家發展基礎；中國與兩岸多放在統一、對談與和平框架。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79FB14-B598-490B-98F2-7249E814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57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9D2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8C85FB-1224-4A69-AE91-CB8200D6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2008–2016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0FA05-1AA5-4607-A2E1-F326A315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合作／開放／轉型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18898-C4E0-4C9E-93F6-D0EA5FE4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70510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兩岸協商與經貿交流上升；經濟轉向全球布局、產業升級與市場多元化。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992705-B2CE-42D7-99CB-73F805AAC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24300"/>
            <a:ext cx="10572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9050">
            <a:solidFill>
              <a:srgbClr val="0077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3CCCF-72B4-4B08-8AD9-64E04F56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7E6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0077E6"/>
                </a:solidFill>
                <a:latin typeface="Heiti TC"/>
                <a:ea typeface="Heiti TC"/>
                <a:cs typeface="Heiti TC"/>
              </a:rPr>
              <a:t>2020–2024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266595-FC26-41D6-A69C-7B9A8B1F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95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2E6B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052E6B"/>
                </a:solidFill>
                <a:latin typeface="Heiti TC"/>
                <a:ea typeface="Heiti TC"/>
                <a:cs typeface="Heiti TC"/>
              </a:rPr>
              <a:t>威脅／嚇阻／韌性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CB95B0-37E6-47B9-A06B-EB9D15C5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576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1F1F"/>
                </a:solidFill>
                <a:latin typeface="Heiti TC"/>
                <a:ea typeface="Heiti TC"/>
                <a:cs typeface="Heiti TC"/>
              </a:defRPr>
            </a:pPr>
            <a:r>
              <a:rPr sz="1350" b="1">
                <a:solidFill>
                  <a:srgbClr val="1F1F1F"/>
                </a:solidFill>
                <a:latin typeface="Heiti TC"/>
                <a:ea typeface="Heiti TC"/>
                <a:cs typeface="Heiti TC"/>
              </a:rPr>
              <a:t>國安、供應鏈、戰略產業與民主夥伴結合；經濟安全進入兩岸安全敘事。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13A050-6200-4522-9C23-7D3D018F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00675"/>
            <a:ext cx="10572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052E6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91CE8C-8DB9-44A5-85C1-FE542664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007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C23E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F6C23E"/>
                </a:solidFill>
                <a:latin typeface="Heiti TC"/>
                <a:ea typeface="Heiti TC"/>
                <a:cs typeface="Heiti TC"/>
              </a:rPr>
              <a:t>核心推論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3179CE-7677-4838-AFFD-39C7F8C7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543550"/>
            <a:ext cx="8705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iti TC"/>
                <a:ea typeface="Heiti TC"/>
                <a:cs typeface="Heiti TC"/>
              </a:defRPr>
            </a:pPr>
            <a:r>
              <a:rPr sz="1575" b="1">
                <a:solidFill>
                  <a:srgbClr val="FFFFFF"/>
                </a:solidFill>
                <a:latin typeface="Heiti TC"/>
                <a:ea typeface="Heiti TC"/>
                <a:cs typeface="Heiti TC"/>
              </a:rPr>
              <a:t>2020 年後，經濟不再只是成長議題，而是國家安全、供應鏈韌性與民主陣營定位的一部分。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4443074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2026-09-25T18:25:03.2210000Z</dcterms:created>
  <dcterms:modified xsi:type="dcterms:W3CDTF">2026-09-25T18:25:03.2210000Z</dcterms:modified>
</coreProperties>
</file>